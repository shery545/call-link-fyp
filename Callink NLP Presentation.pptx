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12192000"/>
  <p:notesSz cx="6858000" cy="9144000"/>
  <p:embeddedFontLst>
    <p:embeddedFont>
      <p:font typeface="Poppins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  <p:embeddedFont>
      <p:font typeface="Montserrat Medium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8697C38-8EC8-4664-88BC-A5EA6BEE6BC8}">
  <a:tblStyle styleId="{E8697C38-8EC8-4664-88BC-A5EA6BEE6BC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22" Type="http://schemas.openxmlformats.org/officeDocument/2006/relationships/font" Target="fonts/Lato-boldItalic.fntdata"/><Relationship Id="rId21" Type="http://schemas.openxmlformats.org/officeDocument/2006/relationships/font" Target="fonts/Lato-italic.fntdata"/><Relationship Id="rId24" Type="http://schemas.openxmlformats.org/officeDocument/2006/relationships/font" Target="fonts/MontserratMedium-bold.fntdata"/><Relationship Id="rId23" Type="http://schemas.openxmlformats.org/officeDocument/2006/relationships/font" Target="fonts/MontserratMedium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ontserratMedium-boldItalic.fntdata"/><Relationship Id="rId25" Type="http://schemas.openxmlformats.org/officeDocument/2006/relationships/font" Target="fonts/MontserratMedium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Poppins-regular.fntdata"/><Relationship Id="rId14" Type="http://schemas.openxmlformats.org/officeDocument/2006/relationships/slide" Target="slides/slide8.xml"/><Relationship Id="rId17" Type="http://schemas.openxmlformats.org/officeDocument/2006/relationships/font" Target="fonts/Poppins-italic.fntdata"/><Relationship Id="rId16" Type="http://schemas.openxmlformats.org/officeDocument/2006/relationships/font" Target="fonts/Poppins-bold.fntdata"/><Relationship Id="rId19" Type="http://schemas.openxmlformats.org/officeDocument/2006/relationships/font" Target="fonts/Lato-regular.fntdata"/><Relationship Id="rId18" Type="http://schemas.openxmlformats.org/officeDocument/2006/relationships/font" Target="fonts/Poppins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20.png"/><Relationship Id="rId6" Type="http://schemas.openxmlformats.org/officeDocument/2006/relationships/image" Target="../media/image5.png"/><Relationship Id="rId7" Type="http://schemas.openxmlformats.org/officeDocument/2006/relationships/image" Target="../media/image21.png"/><Relationship Id="rId8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9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8.png"/><Relationship Id="rId7" Type="http://schemas.openxmlformats.org/officeDocument/2006/relationships/image" Target="../media/image13.png"/><Relationship Id="rId8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095375" y="1761232"/>
            <a:ext cx="10001250" cy="150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Callink - an Urdu-first AI order taking System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947987" y="3822203"/>
            <a:ext cx="6296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CS455: Natural </a:t>
            </a:r>
            <a:r>
              <a:rPr b="0" i="0" lang="en-US" sz="21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Language </a:t>
            </a:r>
            <a:r>
              <a:rPr b="0" i="0" lang="en-US" sz="21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Processing </a:t>
            </a:r>
            <a:r>
              <a:rPr lang="en-US" sz="21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Project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424362" y="4820394"/>
            <a:ext cx="3343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Shehryar Nadir </a:t>
            </a:r>
            <a:r>
              <a:rPr lang="en-U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2022545</a:t>
            </a:r>
            <a:endParaRPr sz="1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       </a:t>
            </a:r>
            <a:r>
              <a:rPr b="0" i="0" lang="en-US" sz="18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Adina Kamran    2022044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1753850" y="6391275"/>
            <a:ext cx="571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461650"/>
            <a:ext cx="2381250" cy="2766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3525" y="1461650"/>
            <a:ext cx="2381250" cy="2842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374525"/>
            <a:ext cx="2381250" cy="2396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2460" l="0" r="0" t="-2460"/>
          <a:stretch/>
        </p:blipFill>
        <p:spPr>
          <a:xfrm>
            <a:off x="3663525" y="4374525"/>
            <a:ext cx="2381250" cy="23968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762000" y="571500"/>
            <a:ext cx="3810476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2B49"/>
                </a:solidFill>
                <a:latin typeface="Poppins"/>
                <a:ea typeface="Poppins"/>
                <a:cs typeface="Poppins"/>
                <a:sym typeface="Poppins"/>
              </a:rPr>
              <a:t>Project Overview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762000" y="1285875"/>
            <a:ext cx="3629025" cy="1905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11725275" y="6391275"/>
            <a:ext cx="857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095375" y="1666875"/>
            <a:ext cx="185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76D6"/>
                </a:solidFill>
                <a:latin typeface="Poppins"/>
                <a:ea typeface="Poppins"/>
                <a:cs typeface="Poppins"/>
                <a:sym typeface="Poppins"/>
              </a:rPr>
              <a:t>The Concept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095375" y="2305050"/>
            <a:ext cx="24615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An AI-powered automated call handling system specifically optimized for the Pakistani market and Urdu language nuances.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3762375" y="1666875"/>
            <a:ext cx="185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76D6"/>
                </a:solidFill>
                <a:latin typeface="Poppins"/>
                <a:ea typeface="Poppins"/>
                <a:cs typeface="Poppins"/>
                <a:sym typeface="Poppins"/>
              </a:rPr>
              <a:t>Problem Solved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3762375" y="2305050"/>
            <a:ext cx="26082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Eliminates high operational costs, inconsistent service quality, and human errors prevalent in manual telephone order-taking.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095375" y="4526163"/>
            <a:ext cx="185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76D6"/>
                </a:solidFill>
                <a:latin typeface="Poppins"/>
                <a:ea typeface="Poppins"/>
                <a:cs typeface="Poppins"/>
                <a:sym typeface="Poppins"/>
              </a:rPr>
              <a:t>NLP Innovation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1095375" y="5013675"/>
            <a:ext cx="24615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Moving beyond rigid IVR menus to flexible, LLM-driven dialogue management for high-frequency environments.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3938575" y="4526175"/>
            <a:ext cx="167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76D6"/>
                </a:solidFill>
                <a:latin typeface="Poppins"/>
                <a:ea typeface="Poppins"/>
                <a:cs typeface="Poppins"/>
                <a:sym typeface="Poppins"/>
              </a:rPr>
              <a:t>Target Market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3810225" y="5013675"/>
            <a:ext cx="25605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Empowering Small and Medium Enterprises (SMEs) to scale their operations without significantly increasing workforce requirements.</a:t>
            </a:r>
            <a:endParaRPr/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13800" y="1709400"/>
            <a:ext cx="3324275" cy="3439189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8361025" y="5626875"/>
            <a:ext cx="3364200" cy="7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can QR code for website access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5000625"/>
            <a:ext cx="10668000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885950"/>
            <a:ext cx="3429000" cy="2733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1885950"/>
            <a:ext cx="3429000" cy="2733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01000" y="1885950"/>
            <a:ext cx="3429000" cy="273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762000" y="571500"/>
            <a:ext cx="60007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2B49"/>
                </a:solidFill>
                <a:latin typeface="Poppins"/>
                <a:ea typeface="Poppins"/>
                <a:cs typeface="Poppins"/>
                <a:sym typeface="Poppins"/>
              </a:rPr>
              <a:t>NLP &amp; AI Core Components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762000" y="1285875"/>
            <a:ext cx="5715000" cy="1905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11725275" y="6391275"/>
            <a:ext cx="857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3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1057275" y="5486400"/>
            <a:ext cx="10077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0369A1"/>
                </a:solidFill>
                <a:latin typeface="Lato"/>
                <a:ea typeface="Lato"/>
                <a:cs typeface="Lato"/>
                <a:sym typeface="Lato"/>
              </a:rPr>
              <a:t>"The system is engineered to handle Urdu/English code-mixing effortlessly, allowing natural localized conversation."</a:t>
            </a:r>
            <a:endParaRPr/>
          </a:p>
        </p:txBody>
      </p:sp>
      <p:pic>
        <p:nvPicPr>
          <p:cNvPr descr="image.png" id="122" name="Google Shape;12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333625" y="2181225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986313" y="2752725"/>
            <a:ext cx="298037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2B49"/>
                </a:solidFill>
                <a:latin typeface="Poppins"/>
                <a:ea typeface="Poppins"/>
                <a:cs typeface="Poppins"/>
                <a:sym typeface="Poppins"/>
              </a:rPr>
              <a:t>STT Processing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1057275" y="3219450"/>
            <a:ext cx="2838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Deepgram Streaming for low-latency conversion of 8kHz mono audio to text stream.</a:t>
            </a:r>
            <a:endParaRPr/>
          </a:p>
        </p:txBody>
      </p:sp>
      <p:pic>
        <p:nvPicPr>
          <p:cNvPr descr="image.png" id="125" name="Google Shape;12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05500" y="218122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4605813" y="2752725"/>
            <a:ext cx="298037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2B49"/>
                </a:solidFill>
                <a:latin typeface="Poppins"/>
                <a:ea typeface="Poppins"/>
                <a:cs typeface="Poppins"/>
                <a:sym typeface="Poppins"/>
              </a:rPr>
              <a:t>NLU Engine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4676775" y="3219450"/>
            <a:ext cx="2838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Gemini 2.5 Flash understanding Urdu-English code-mixed intent and context.</a:t>
            </a:r>
            <a:endParaRPr/>
          </a:p>
        </p:txBody>
      </p:sp>
      <p:pic>
        <p:nvPicPr>
          <p:cNvPr descr="image.png" id="128" name="Google Shape;128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477375" y="2181225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8225313" y="2752725"/>
            <a:ext cx="298037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2B49"/>
                </a:solidFill>
                <a:latin typeface="Poppins"/>
                <a:ea typeface="Poppins"/>
                <a:cs typeface="Poppins"/>
                <a:sym typeface="Poppins"/>
              </a:rPr>
              <a:t>TTS Synthesis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8296275" y="3219450"/>
            <a:ext cx="2838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Deepgram human-like voice synthesis providing real-time audio feedback to users.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 txBox="1"/>
          <p:nvPr/>
        </p:nvSpPr>
        <p:spPr>
          <a:xfrm>
            <a:off x="762000" y="571500"/>
            <a:ext cx="3950493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2B49"/>
                </a:solidFill>
                <a:latin typeface="Poppins"/>
                <a:ea typeface="Poppins"/>
                <a:cs typeface="Poppins"/>
                <a:sym typeface="Poppins"/>
              </a:rPr>
              <a:t>System Workflow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762000" y="1285875"/>
            <a:ext cx="3762375" cy="1905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11706225" y="6391275"/>
            <a:ext cx="1047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4</a:t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762000" y="2953642"/>
            <a:ext cx="10668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9" name="Google Shape;13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1000" y="4545210"/>
            <a:ext cx="3810000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904875" y="2162175"/>
            <a:ext cx="18478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2B49"/>
                </a:solidFill>
                <a:latin typeface="Lato"/>
                <a:ea typeface="Lato"/>
                <a:cs typeface="Lato"/>
                <a:sym typeface="Lato"/>
              </a:rPr>
              <a:t>Inbound Call</a:t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1714500" y="262890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076D6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904875" y="3143250"/>
            <a:ext cx="18478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Twilio Voice Stream (8kHz)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3038475" y="2162175"/>
            <a:ext cx="18478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2B49"/>
                </a:solidFill>
                <a:latin typeface="Lato"/>
                <a:ea typeface="Lato"/>
                <a:cs typeface="Lato"/>
                <a:sym typeface="Lato"/>
              </a:rPr>
              <a:t>Transcription</a:t>
            </a:r>
            <a:endParaRPr/>
          </a:p>
        </p:txBody>
      </p:sp>
      <p:sp>
        <p:nvSpPr>
          <p:cNvPr id="144" name="Google Shape;144;p16"/>
          <p:cNvSpPr/>
          <p:nvPr/>
        </p:nvSpPr>
        <p:spPr>
          <a:xfrm>
            <a:off x="3848100" y="262890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076D6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 txBox="1"/>
          <p:nvPr/>
        </p:nvSpPr>
        <p:spPr>
          <a:xfrm>
            <a:off x="3038475" y="3143250"/>
            <a:ext cx="18478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STT Processing (Deepgram)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5172075" y="2162175"/>
            <a:ext cx="18478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2B49"/>
                </a:solidFill>
                <a:latin typeface="Lato"/>
                <a:ea typeface="Lato"/>
                <a:cs typeface="Lato"/>
                <a:sym typeface="Lato"/>
              </a:rPr>
              <a:t>Processing</a:t>
            </a:r>
            <a:endParaRPr/>
          </a:p>
        </p:txBody>
      </p:sp>
      <p:sp>
        <p:nvSpPr>
          <p:cNvPr id="147" name="Google Shape;147;p16"/>
          <p:cNvSpPr/>
          <p:nvPr/>
        </p:nvSpPr>
        <p:spPr>
          <a:xfrm>
            <a:off x="5981700" y="262890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076D6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5172075" y="3143250"/>
            <a:ext cx="18478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NLP &amp; Intent Extraction (Gemini)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7305675" y="2162175"/>
            <a:ext cx="18478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2B49"/>
                </a:solidFill>
                <a:latin typeface="Lato"/>
                <a:ea typeface="Lato"/>
                <a:cs typeface="Lato"/>
                <a:sym typeface="Lato"/>
              </a:rPr>
              <a:t>Execution</a:t>
            </a:r>
            <a:endParaRPr/>
          </a:p>
        </p:txBody>
      </p:sp>
      <p:sp>
        <p:nvSpPr>
          <p:cNvPr id="150" name="Google Shape;150;p16"/>
          <p:cNvSpPr/>
          <p:nvPr/>
        </p:nvSpPr>
        <p:spPr>
          <a:xfrm>
            <a:off x="8115300" y="262890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076D6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7305675" y="3143250"/>
            <a:ext cx="18478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DB Interaction &amp; Order Log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9439275" y="2162175"/>
            <a:ext cx="18478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2B49"/>
                </a:solidFill>
                <a:latin typeface="Lato"/>
                <a:ea typeface="Lato"/>
                <a:cs typeface="Lato"/>
                <a:sym typeface="Lato"/>
              </a:rPr>
              <a:t>Response</a:t>
            </a:r>
            <a:endParaRPr/>
          </a:p>
        </p:txBody>
      </p:sp>
      <p:sp>
        <p:nvSpPr>
          <p:cNvPr id="153" name="Google Shape;153;p16"/>
          <p:cNvSpPr/>
          <p:nvPr/>
        </p:nvSpPr>
        <p:spPr>
          <a:xfrm>
            <a:off x="10248900" y="262890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076D6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 txBox="1"/>
          <p:nvPr/>
        </p:nvSpPr>
        <p:spPr>
          <a:xfrm>
            <a:off x="9439275" y="3143250"/>
            <a:ext cx="18478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TTS Output Generation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9" name="Google Shape;15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749599"/>
            <a:ext cx="5048250" cy="2482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762000" y="571500"/>
            <a:ext cx="5730716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2B49"/>
                </a:solidFill>
                <a:latin typeface="Poppins"/>
                <a:ea typeface="Poppins"/>
                <a:cs typeface="Poppins"/>
                <a:sym typeface="Poppins"/>
              </a:rPr>
              <a:t>Implementation Strategy</a:t>
            </a:r>
            <a:endParaRPr/>
          </a:p>
        </p:txBody>
      </p:sp>
      <p:sp>
        <p:nvSpPr>
          <p:cNvPr id="161" name="Google Shape;161;p17"/>
          <p:cNvSpPr/>
          <p:nvPr/>
        </p:nvSpPr>
        <p:spPr>
          <a:xfrm>
            <a:off x="762000" y="1285875"/>
            <a:ext cx="5457825" cy="1905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 txBox="1"/>
          <p:nvPr/>
        </p:nvSpPr>
        <p:spPr>
          <a:xfrm>
            <a:off x="11725275" y="6391275"/>
            <a:ext cx="857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5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1143000" y="1838325"/>
            <a:ext cx="4667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Real-time Pipeline: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Built with FastAPI (Python) using asynchronous WebSockets to maintain low-latency sub-second response times.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1143000" y="2990850"/>
            <a:ext cx="4667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Dialogue Logic: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Context-aware state management ensuring order details (items, quantity, address) are captured accurately.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1143000" y="4143375"/>
            <a:ext cx="4667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Barge-in Support: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Specialized logic allowing the AI to detect user interruption and pause speech synthesis instantly.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1143000" y="5295900"/>
            <a:ext cx="4667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Cloud Deployment: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Hosted on Railway for scalable, active cloud availability.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6762750" y="3130599"/>
            <a:ext cx="4500562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76D6"/>
                </a:solidFill>
                <a:latin typeface="Lato"/>
                <a:ea typeface="Lato"/>
                <a:cs typeface="Lato"/>
                <a:sym typeface="Lato"/>
              </a:rPr>
              <a:t>Performance Metrics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6762750" y="3514129"/>
            <a:ext cx="4286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Target Latency: &lt; 1.2s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6762750" y="3959869"/>
            <a:ext cx="4286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Speech Accuracy: 94%+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6762750" y="4405610"/>
            <a:ext cx="4286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Uptime: 99.9% (via Cloud Hosting)</a:t>
            </a:r>
            <a:endParaRPr/>
          </a:p>
        </p:txBody>
      </p:sp>
      <p:pic>
        <p:nvPicPr>
          <p:cNvPr descr="image.png" id="171" name="Google Shape;17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8383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9908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1433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5295900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8"/>
          <p:cNvSpPr txBox="1"/>
          <p:nvPr/>
        </p:nvSpPr>
        <p:spPr>
          <a:xfrm>
            <a:off x="762000" y="571500"/>
            <a:ext cx="424053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2B49"/>
                </a:solidFill>
                <a:latin typeface="Poppins"/>
                <a:ea typeface="Poppins"/>
                <a:cs typeface="Poppins"/>
                <a:sym typeface="Poppins"/>
              </a:rPr>
              <a:t>Technologies Used</a:t>
            </a:r>
            <a:endParaRPr/>
          </a:p>
        </p:txBody>
      </p:sp>
      <p:sp>
        <p:nvSpPr>
          <p:cNvPr id="180" name="Google Shape;180;p18"/>
          <p:cNvSpPr/>
          <p:nvPr/>
        </p:nvSpPr>
        <p:spPr>
          <a:xfrm>
            <a:off x="762000" y="1285875"/>
            <a:ext cx="4038600" cy="1905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 txBox="1"/>
          <p:nvPr/>
        </p:nvSpPr>
        <p:spPr>
          <a:xfrm>
            <a:off x="11715750" y="6391275"/>
            <a:ext cx="952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6</a:t>
            </a:r>
            <a:endParaRPr/>
          </a:p>
        </p:txBody>
      </p:sp>
      <p:graphicFrame>
        <p:nvGraphicFramePr>
          <p:cNvPr id="182" name="Google Shape;182;p18"/>
          <p:cNvGraphicFramePr/>
          <p:nvPr/>
        </p:nvGraphicFramePr>
        <p:xfrm>
          <a:off x="762000" y="19859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{E8697C38-8EC8-4664-88BC-A5EA6BEE6BC8}</a:tableStyleId>
              </a:tblPr>
              <a:tblGrid>
                <a:gridCol w="2338825"/>
                <a:gridCol w="2936525"/>
                <a:gridCol w="5392650"/>
              </a:tblGrid>
              <a:tr h="598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Category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Technology Used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Role in System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B49"/>
                    </a:solidFill>
                  </a:tcPr>
                </a:tc>
              </a:tr>
              <a:tr h="598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AI &amp; LLM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Gemini 2.5 Flash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Core NLU, Entity Extraction &amp; Reasoning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8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Voice Services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Deepgram Nova-2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Streaming STT &amp; Expressive TTS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98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Communication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Twilio API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SIP/PSTN Phone Number Integration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8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Backend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FastAPI / Python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Async WebSocket Management &amp; API Logic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98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Database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SQLite / SQLAlchemy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Structured Order Logging &amp; Call Records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8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Deployment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Railway Cloud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Global Infrastructure Hosting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83" name="Google Shape;183;p18"/>
          <p:cNvSpPr/>
          <p:nvPr/>
        </p:nvSpPr>
        <p:spPr>
          <a:xfrm>
            <a:off x="762000" y="3162300"/>
            <a:ext cx="23388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/>
          <p:nvPr/>
        </p:nvSpPr>
        <p:spPr>
          <a:xfrm>
            <a:off x="3100833" y="3162300"/>
            <a:ext cx="293652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6037361" y="3162300"/>
            <a:ext cx="539263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762000" y="3762375"/>
            <a:ext cx="23388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3100833" y="3762375"/>
            <a:ext cx="293652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6037361" y="3762375"/>
            <a:ext cx="539263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762000" y="4362450"/>
            <a:ext cx="23388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3100833" y="4362450"/>
            <a:ext cx="293652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6037361" y="4362450"/>
            <a:ext cx="539263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762000" y="4962525"/>
            <a:ext cx="23388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3100833" y="4962525"/>
            <a:ext cx="293652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/>
          <p:nvPr/>
        </p:nvSpPr>
        <p:spPr>
          <a:xfrm>
            <a:off x="6037361" y="4962525"/>
            <a:ext cx="539263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8"/>
          <p:cNvSpPr/>
          <p:nvPr/>
        </p:nvSpPr>
        <p:spPr>
          <a:xfrm>
            <a:off x="762000" y="5562600"/>
            <a:ext cx="23388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3100833" y="5562600"/>
            <a:ext cx="293652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6037361" y="5562600"/>
            <a:ext cx="539263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762000" y="6162675"/>
            <a:ext cx="23388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3100833" y="6162675"/>
            <a:ext cx="293652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6037361" y="6162675"/>
            <a:ext cx="539263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5" name="Google Shape;20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1457325"/>
            <a:ext cx="5048250" cy="16496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3411735"/>
            <a:ext cx="5048250" cy="16496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5366146"/>
            <a:ext cx="5048250" cy="164961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9"/>
          <p:cNvSpPr txBox="1"/>
          <p:nvPr/>
        </p:nvSpPr>
        <p:spPr>
          <a:xfrm>
            <a:off x="762000" y="571500"/>
            <a:ext cx="5220652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2B49"/>
                </a:solidFill>
                <a:latin typeface="Poppins"/>
                <a:ea typeface="Poppins"/>
                <a:cs typeface="Poppins"/>
                <a:sym typeface="Poppins"/>
              </a:rPr>
              <a:t>Management &amp; Portals</a:t>
            </a:r>
            <a:endParaRPr/>
          </a:p>
        </p:txBody>
      </p:sp>
      <p:sp>
        <p:nvSpPr>
          <p:cNvPr id="209" name="Google Shape;209;p19"/>
          <p:cNvSpPr/>
          <p:nvPr/>
        </p:nvSpPr>
        <p:spPr>
          <a:xfrm>
            <a:off x="762000" y="1285875"/>
            <a:ext cx="4972050" cy="1905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9"/>
          <p:cNvSpPr txBox="1"/>
          <p:nvPr/>
        </p:nvSpPr>
        <p:spPr>
          <a:xfrm>
            <a:off x="11715750" y="6391275"/>
            <a:ext cx="952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7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6715125" y="1971675"/>
            <a:ext cx="465058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6D6"/>
                </a:solidFill>
                <a:latin typeface="Poppins"/>
                <a:ea typeface="Poppins"/>
                <a:cs typeface="Poppins"/>
                <a:sym typeface="Poppins"/>
              </a:rPr>
              <a:t>AI Calling Interface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6715125" y="2409825"/>
            <a:ext cx="442912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Real-time interaction log and menu display for monitoring active calls.</a:t>
            </a: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6715125" y="3811785"/>
            <a:ext cx="465058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6D6"/>
                </a:solidFill>
                <a:latin typeface="Poppins"/>
                <a:ea typeface="Poppins"/>
                <a:cs typeface="Poppins"/>
                <a:sym typeface="Poppins"/>
              </a:rPr>
              <a:t>Kitchen Display System (KDS)</a:t>
            </a:r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6715125" y="4249935"/>
            <a:ext cx="442912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Live order portal for kitchen staff to manage automatically extracted voice orders.</a:t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6715125" y="5651896"/>
            <a:ext cx="465058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6D6"/>
                </a:solidFill>
                <a:latin typeface="Poppins"/>
                <a:ea typeface="Poppins"/>
                <a:cs typeface="Poppins"/>
                <a:sym typeface="Poppins"/>
              </a:rPr>
              <a:t>Manager Dashboard</a:t>
            </a:r>
            <a:endParaRPr/>
          </a:p>
        </p:txBody>
      </p:sp>
      <p:sp>
        <p:nvSpPr>
          <p:cNvPr id="216" name="Google Shape;216;p19"/>
          <p:cNvSpPr txBox="1"/>
          <p:nvPr/>
        </p:nvSpPr>
        <p:spPr>
          <a:xfrm>
            <a:off x="6715125" y="6090046"/>
            <a:ext cx="442912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Analytical view for business owners tracking revenue, call success, and trends.</a:t>
            </a:r>
            <a:endParaRPr/>
          </a:p>
        </p:txBody>
      </p:sp>
      <p:pic>
        <p:nvPicPr>
          <p:cNvPr descr="image.png" id="217" name="Google Shape;21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15125" y="20193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15125" y="385941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15125" y="5699521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52400" y="1457325"/>
            <a:ext cx="6076948" cy="2540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52400" y="4149950"/>
            <a:ext cx="6076948" cy="2865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6" name="Google Shape;22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0"/>
          <p:cNvSpPr txBox="1"/>
          <p:nvPr/>
        </p:nvSpPr>
        <p:spPr>
          <a:xfrm>
            <a:off x="11715750" y="6391275"/>
            <a:ext cx="952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8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3760700" y="2038121"/>
            <a:ext cx="4670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Thank You!</a:t>
            </a:r>
            <a:endParaRPr/>
          </a:p>
        </p:txBody>
      </p:sp>
      <p:sp>
        <p:nvSpPr>
          <p:cNvPr id="229" name="Google Shape;229;p20"/>
          <p:cNvSpPr txBox="1"/>
          <p:nvPr/>
        </p:nvSpPr>
        <p:spPr>
          <a:xfrm>
            <a:off x="5338762" y="2975669"/>
            <a:ext cx="1514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0"/>
          <p:cNvSpPr txBox="1"/>
          <p:nvPr/>
        </p:nvSpPr>
        <p:spPr>
          <a:xfrm>
            <a:off x="4252912" y="4530030"/>
            <a:ext cx="36861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Callink - an Urdu-first AI order taking System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4252912" y="5025330"/>
            <a:ext cx="3686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